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2"/>
  </p:notesMasterIdLst>
  <p:sldIdLst>
    <p:sldId id="256" r:id="rId2"/>
    <p:sldId id="715" r:id="rId3"/>
    <p:sldId id="714" r:id="rId4"/>
    <p:sldId id="674" r:id="rId5"/>
    <p:sldId id="713" r:id="rId6"/>
    <p:sldId id="712" r:id="rId7"/>
    <p:sldId id="676" r:id="rId8"/>
    <p:sldId id="716" r:id="rId9"/>
    <p:sldId id="711" r:id="rId10"/>
    <p:sldId id="30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77" d="100"/>
          <a:sy n="77" d="100"/>
        </p:scale>
        <p:origin x="802" y="62"/>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20-04-2026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7</a:t>
            </a:fld>
            <a:endParaRPr lang="en-IN" dirty="0"/>
          </a:p>
        </p:txBody>
      </p:sp>
    </p:spTree>
    <p:extLst>
      <p:ext uri="{BB962C8B-B14F-4D97-AF65-F5344CB8AC3E}">
        <p14:creationId xmlns:p14="http://schemas.microsoft.com/office/powerpoint/2010/main" val="17978836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228601" y="2474844"/>
            <a:ext cx="11608904" cy="30115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p>
          <a:p>
            <a:pPr algn="ctr"/>
            <a:endParaRPr lang="en-IN" b="1" dirty="0"/>
          </a:p>
          <a:p>
            <a:pPr algn="ctr"/>
            <a:r>
              <a:rPr lang="en-IN" sz="4400" b="1" dirty="0"/>
              <a:t>Subtitle Generator and Summarizer</a:t>
            </a:r>
          </a:p>
          <a:p>
            <a:r>
              <a:rPr lang="en-IN" sz="2400" b="1" dirty="0"/>
              <a:t>           Python | </a:t>
            </a:r>
            <a:r>
              <a:rPr lang="en-IN" sz="2400" b="1" dirty="0" err="1"/>
              <a:t>MoviePy</a:t>
            </a:r>
            <a:r>
              <a:rPr lang="en-IN" sz="2400" b="1" dirty="0"/>
              <a:t> | Whisper | Transformers | </a:t>
            </a:r>
            <a:r>
              <a:rPr lang="en-IN" sz="2400" b="1" dirty="0" err="1"/>
              <a:t>PyTorch</a:t>
            </a:r>
            <a:r>
              <a:rPr lang="en-IN" sz="2400" b="1" dirty="0"/>
              <a:t> | </a:t>
            </a:r>
            <a:r>
              <a:rPr lang="en-IN" sz="2400" b="1" dirty="0" err="1"/>
              <a:t>JiWER</a:t>
            </a:r>
            <a:r>
              <a:rPr lang="en-IN" sz="2400" b="1" dirty="0"/>
              <a:t> | ROUGE | NLTK | OS</a:t>
            </a:r>
          </a:p>
          <a:p>
            <a:pPr algn="ctr"/>
            <a:r>
              <a:rPr lang="en-IN" sz="2800" b="1" dirty="0"/>
              <a:t>Reshma Pandit</a:t>
            </a:r>
          </a:p>
          <a:p>
            <a:pPr algn="ctr"/>
            <a:endParaRPr lang="en-IN" sz="4400" b="1" dirty="0"/>
          </a:p>
          <a:p>
            <a:pPr algn="ctr"/>
            <a:endParaRPr lang="en-US" sz="4400" b="1" dirty="0">
              <a:latin typeface="Calibri" panose="020F0502020204030204" pitchFamily="34" charset="0"/>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BFE2C-95EE-C879-0C35-5DC2C4CB5230}"/>
              </a:ext>
            </a:extLst>
          </p:cNvPr>
          <p:cNvSpPr>
            <a:spLocks noGrp="1"/>
          </p:cNvSpPr>
          <p:nvPr>
            <p:ph type="title"/>
          </p:nvPr>
        </p:nvSpPr>
        <p:spPr>
          <a:xfrm>
            <a:off x="678884" y="259081"/>
            <a:ext cx="10834234" cy="655320"/>
          </a:xfrm>
        </p:spPr>
        <p:txBody>
          <a:bodyPr>
            <a:noAutofit/>
          </a:bodyPr>
          <a:lstStyle/>
          <a:p>
            <a:br>
              <a:rPr lang="en-IN" sz="3200" dirty="0"/>
            </a:br>
            <a:r>
              <a:rPr lang="en-IN" sz="3200" dirty="0"/>
              <a:t>🚨 Problem</a:t>
            </a:r>
            <a:br>
              <a:rPr lang="en-IN" sz="3200" dirty="0"/>
            </a:br>
            <a:endParaRPr lang="en-IN" sz="3200" dirty="0"/>
          </a:p>
        </p:txBody>
      </p:sp>
      <p:sp>
        <p:nvSpPr>
          <p:cNvPr id="3" name="Content Placeholder 2">
            <a:extLst>
              <a:ext uri="{FF2B5EF4-FFF2-40B4-BE49-F238E27FC236}">
                <a16:creationId xmlns:a16="http://schemas.microsoft.com/office/drawing/2014/main" id="{36AC91F3-FE7E-7078-B90B-A3C4A80B6756}"/>
              </a:ext>
            </a:extLst>
          </p:cNvPr>
          <p:cNvSpPr>
            <a:spLocks noGrp="1"/>
          </p:cNvSpPr>
          <p:nvPr>
            <p:ph idx="1"/>
          </p:nvPr>
        </p:nvSpPr>
        <p:spPr>
          <a:xfrm>
            <a:off x="678884" y="1165860"/>
            <a:ext cx="7063036" cy="4244340"/>
          </a:xfrm>
        </p:spPr>
        <p:txBody>
          <a:bodyPr>
            <a:normAutofit lnSpcReduction="10000"/>
          </a:bodyPr>
          <a:lstStyle/>
          <a:p>
            <a:r>
              <a:rPr lang="en-IN" sz="2200" dirty="0"/>
              <a:t>⏱️ Students don’t have time to watch full lectures </a:t>
            </a:r>
          </a:p>
          <a:p>
            <a:r>
              <a:rPr lang="en-IN" sz="2200" dirty="0"/>
              <a:t>🌐 Lack of subtitles reduces accessibility </a:t>
            </a:r>
          </a:p>
          <a:p>
            <a:r>
              <a:rPr lang="en-IN" sz="2200" dirty="0"/>
              <a:t>📄 No quick summaries for revision </a:t>
            </a:r>
          </a:p>
          <a:p>
            <a:r>
              <a:rPr lang="en-IN" sz="2200" dirty="0"/>
              <a:t>🎥 Large volume of lecture content </a:t>
            </a:r>
            <a:br>
              <a:rPr lang="en-IN" sz="2200" dirty="0"/>
            </a:br>
            <a:endParaRPr lang="en-IN" sz="2200" dirty="0"/>
          </a:p>
          <a:p>
            <a:pPr marL="0" indent="0">
              <a:buNone/>
            </a:pPr>
            <a:r>
              <a:rPr lang="en-IN" sz="3200" b="1" dirty="0"/>
              <a:t>🎯 Goals</a:t>
            </a:r>
          </a:p>
          <a:p>
            <a:r>
              <a:rPr lang="en-IN" sz="2200" dirty="0"/>
              <a:t>🎧 Convert video lectures into audio </a:t>
            </a:r>
          </a:p>
          <a:p>
            <a:r>
              <a:rPr lang="en-IN" sz="2200" dirty="0"/>
              <a:t>📝 Generate accurate transcripts &amp; subtitles </a:t>
            </a:r>
          </a:p>
          <a:p>
            <a:r>
              <a:rPr lang="en-IN" sz="2200" dirty="0"/>
              <a:t>✂️ Create short and clear summaries </a:t>
            </a:r>
          </a:p>
          <a:p>
            <a:r>
              <a:rPr lang="en-IN" sz="2200" dirty="0"/>
              <a:t>✅ Improve accessibility and quick learning</a:t>
            </a:r>
          </a:p>
          <a:p>
            <a:endParaRPr lang="en-IN" dirty="0"/>
          </a:p>
        </p:txBody>
      </p:sp>
    </p:spTree>
    <p:extLst>
      <p:ext uri="{BB962C8B-B14F-4D97-AF65-F5344CB8AC3E}">
        <p14:creationId xmlns:p14="http://schemas.microsoft.com/office/powerpoint/2010/main" val="2674943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a:xfrm>
            <a:off x="678884" y="248479"/>
            <a:ext cx="10834234" cy="665922"/>
          </a:xfrm>
        </p:spPr>
        <p:txBody>
          <a:bodyPr>
            <a:normAutofit/>
          </a:bodyPr>
          <a:lstStyle/>
          <a:p>
            <a:r>
              <a:rPr lang="en-US" sz="3200" dirty="0"/>
              <a:t>Agenda</a:t>
            </a:r>
            <a:endParaRPr lang="en-IN" sz="3200" dirty="0"/>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678884" y="914400"/>
            <a:ext cx="7535476" cy="3893819"/>
          </a:xfrm>
        </p:spPr>
        <p:txBody>
          <a:bodyPr/>
          <a:lstStyle/>
          <a:p>
            <a:r>
              <a:rPr lang="en-US" sz="2000" dirty="0"/>
              <a:t>Project Overview</a:t>
            </a:r>
          </a:p>
          <a:p>
            <a:r>
              <a:rPr lang="en-US" sz="2000" dirty="0"/>
              <a:t>Problem Statement &amp; Objectives</a:t>
            </a:r>
          </a:p>
          <a:p>
            <a:r>
              <a:rPr lang="en-US" sz="2000" dirty="0"/>
              <a:t>System Architecture &amp; Workflow</a:t>
            </a:r>
          </a:p>
          <a:p>
            <a:r>
              <a:rPr lang="en-US" sz="2000" dirty="0"/>
              <a:t>Audio Extraction &amp; Transcription</a:t>
            </a:r>
          </a:p>
          <a:p>
            <a:r>
              <a:rPr lang="en-US" sz="2000" dirty="0"/>
              <a:t>Subtitle Generation &amp; Summarization</a:t>
            </a:r>
          </a:p>
          <a:p>
            <a:r>
              <a:rPr lang="en-US" sz="2000" dirty="0"/>
              <a:t>Evaluation Metrics &amp; Results</a:t>
            </a:r>
          </a:p>
          <a:p>
            <a:r>
              <a:rPr lang="en-US" sz="2000" dirty="0"/>
              <a:t>Conclusion &amp; Future Scope</a:t>
            </a:r>
          </a:p>
          <a:p>
            <a:pPr marL="457200" lvl="1" indent="0">
              <a:buNone/>
            </a:pPr>
            <a:endParaRPr lang="en-IN" dirty="0"/>
          </a:p>
        </p:txBody>
      </p:sp>
      <p:sp>
        <p:nvSpPr>
          <p:cNvPr id="15" name="Rectangle 12">
            <a:extLst>
              <a:ext uri="{FF2B5EF4-FFF2-40B4-BE49-F238E27FC236}">
                <a16:creationId xmlns:a16="http://schemas.microsoft.com/office/drawing/2014/main" id="{54B81EA9-4797-159F-B760-2398141A3959}"/>
              </a:ext>
            </a:extLst>
          </p:cNvPr>
          <p:cNvSpPr>
            <a:spLocks noChangeArrowheads="1"/>
          </p:cNvSpPr>
          <p:nvPr/>
        </p:nvSpPr>
        <p:spPr bwMode="auto">
          <a:xfrm>
            <a:off x="0" y="378509"/>
            <a:ext cx="23596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53804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678884" y="603666"/>
            <a:ext cx="10834234" cy="912714"/>
          </a:xfrm>
        </p:spPr>
        <p:txBody>
          <a:bodyPr/>
          <a:lstStyle/>
          <a:p>
            <a:r>
              <a:rPr lang="en-IN" dirty="0"/>
              <a:t>Tools &amp; </a:t>
            </a:r>
            <a:r>
              <a:rPr lang="en-IN" sz="3200" dirty="0"/>
              <a:t>Technologies</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424941"/>
            <a:ext cx="10834234" cy="3436620"/>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r>
              <a:rPr lang="en-IN" sz="2000" b="1" dirty="0"/>
              <a:t>Python</a:t>
            </a:r>
            <a:r>
              <a:rPr lang="en-IN" sz="2000" dirty="0"/>
              <a:t> – Core programming language</a:t>
            </a:r>
          </a:p>
          <a:p>
            <a:r>
              <a:rPr lang="en-IN" sz="2000" b="1" dirty="0"/>
              <a:t>OpenAI Whisper</a:t>
            </a:r>
            <a:r>
              <a:rPr lang="en-IN" sz="2000" dirty="0"/>
              <a:t> – Speech-to-text transcription</a:t>
            </a:r>
          </a:p>
          <a:p>
            <a:r>
              <a:rPr lang="en-IN" sz="2000" b="1" dirty="0"/>
              <a:t>BART / FLAN-T5</a:t>
            </a:r>
            <a:r>
              <a:rPr lang="en-IN" sz="2000" dirty="0"/>
              <a:t> – Text summarization and grammar correction</a:t>
            </a:r>
          </a:p>
          <a:p>
            <a:r>
              <a:rPr lang="en-IN" sz="2000" b="1" dirty="0" err="1"/>
              <a:t>yt-dlp</a:t>
            </a:r>
            <a:r>
              <a:rPr lang="en-IN" sz="2000" b="1" dirty="0"/>
              <a:t> &amp; </a:t>
            </a:r>
            <a:r>
              <a:rPr lang="en-IN" sz="2000" b="1" dirty="0" err="1"/>
              <a:t>MoviePy</a:t>
            </a:r>
            <a:r>
              <a:rPr lang="en-IN" sz="2000" dirty="0"/>
              <a:t> – Video downloading and audio extraction</a:t>
            </a:r>
          </a:p>
          <a:p>
            <a:r>
              <a:rPr lang="en-IN" sz="2000" b="1" dirty="0" err="1"/>
              <a:t>jiwer</a:t>
            </a:r>
            <a:r>
              <a:rPr lang="en-IN" sz="2000" b="1" dirty="0"/>
              <a:t> &amp; ROUGE</a:t>
            </a:r>
            <a:r>
              <a:rPr lang="en-IN" sz="2000" dirty="0"/>
              <a:t> – Evaluation metrics for transcription and summary</a:t>
            </a:r>
          </a:p>
          <a:p>
            <a:r>
              <a:rPr lang="en-IN" sz="2000" b="1" dirty="0" err="1"/>
              <a:t>Jupyter</a:t>
            </a:r>
            <a:r>
              <a:rPr lang="en-IN" sz="2000" b="1" dirty="0"/>
              <a:t> Notebook</a:t>
            </a:r>
            <a:r>
              <a:rPr lang="en-IN" sz="2000" dirty="0"/>
              <a:t> – Development and testing environment</a:t>
            </a:r>
          </a:p>
          <a:p>
            <a:pPr lvl="0"/>
            <a:endParaRPr lang="en-US" dirty="0"/>
          </a:p>
        </p:txBody>
      </p:sp>
    </p:spTree>
    <p:extLst>
      <p:ext uri="{BB962C8B-B14F-4D97-AF65-F5344CB8AC3E}">
        <p14:creationId xmlns:p14="http://schemas.microsoft.com/office/powerpoint/2010/main" val="2272459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a:xfrm>
            <a:off x="678881" y="603665"/>
            <a:ext cx="5107239" cy="1141315"/>
          </a:xfrm>
        </p:spPr>
        <p:txBody>
          <a:bodyPr>
            <a:noAutofit/>
          </a:bodyPr>
          <a:lstStyle/>
          <a:p>
            <a:r>
              <a:rPr lang="en-IN" sz="3200" dirty="0"/>
              <a:t>Workflow Diagram</a:t>
            </a:r>
          </a:p>
        </p:txBody>
      </p:sp>
      <p:sp>
        <p:nvSpPr>
          <p:cNvPr id="3" name="Content Placeholder 2">
            <a:extLst>
              <a:ext uri="{FF2B5EF4-FFF2-40B4-BE49-F238E27FC236}">
                <a16:creationId xmlns:a16="http://schemas.microsoft.com/office/drawing/2014/main" id="{62EDD089-F254-6F9E-8E72-F51EB84BE411}"/>
              </a:ext>
            </a:extLst>
          </p:cNvPr>
          <p:cNvSpPr>
            <a:spLocks noGrp="1" noChangeArrowheads="1"/>
          </p:cNvSpPr>
          <p:nvPr>
            <p:ph idx="1"/>
          </p:nvPr>
        </p:nvSpPr>
        <p:spPr bwMode="auto">
          <a:xfrm>
            <a:off x="678881" y="1873712"/>
            <a:ext cx="484299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Load YouTube lecture video links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Extract audio (.wav) from video using </a:t>
            </a:r>
            <a:r>
              <a:rPr kumimoji="0" lang="en-US" altLang="en-US" sz="1800" b="0" i="0" u="none" strike="noStrike" cap="none" normalizeH="0" baseline="0" dirty="0" err="1">
                <a:ln>
                  <a:noFill/>
                </a:ln>
                <a:solidFill>
                  <a:schemeClr val="tx1"/>
                </a:solidFill>
                <a:effectLst/>
                <a:latin typeface="Arial" panose="020B0604020202020204" pitchFamily="34" charset="0"/>
              </a:rPr>
              <a:t>yt-dlp</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Convert audio to text using Whisper model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Clean and correct transcript text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Split text into lines and generate .</a:t>
            </a:r>
            <a:r>
              <a:rPr kumimoji="0" lang="en-US" altLang="en-US" sz="1800" b="0" i="0" u="none" strike="noStrike" cap="none" normalizeH="0" baseline="0" dirty="0" err="1">
                <a:ln>
                  <a:noFill/>
                </a:ln>
                <a:solidFill>
                  <a:schemeClr val="tx1"/>
                </a:solidFill>
                <a:effectLst/>
                <a:latin typeface="Arial" panose="020B0604020202020204" pitchFamily="34" charset="0"/>
              </a:rPr>
              <a:t>srt</a:t>
            </a:r>
            <a:r>
              <a:rPr kumimoji="0" lang="en-US" altLang="en-US" sz="1800" b="0" i="0" u="none" strike="noStrike" cap="none" normalizeH="0" baseline="0" dirty="0">
                <a:ln>
                  <a:noFill/>
                </a:ln>
                <a:solidFill>
                  <a:schemeClr val="tx1"/>
                </a:solidFill>
                <a:effectLst/>
                <a:latin typeface="Arial" panose="020B0604020202020204" pitchFamily="34" charset="0"/>
              </a:rPr>
              <a:t> subtitles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Summarize transcript using BART model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Evaluate using WER and ROUGE scores </a:t>
            </a:r>
          </a:p>
        </p:txBody>
      </p:sp>
      <p:pic>
        <p:nvPicPr>
          <p:cNvPr id="7" name="Picture 6">
            <a:extLst>
              <a:ext uri="{FF2B5EF4-FFF2-40B4-BE49-F238E27FC236}">
                <a16:creationId xmlns:a16="http://schemas.microsoft.com/office/drawing/2014/main" id="{A26AF85A-106F-23AB-0346-D39450B74648}"/>
              </a:ext>
            </a:extLst>
          </p:cNvPr>
          <p:cNvPicPr>
            <a:picLocks noChangeAspect="1"/>
          </p:cNvPicPr>
          <p:nvPr/>
        </p:nvPicPr>
        <p:blipFill>
          <a:blip r:embed="rId2"/>
          <a:stretch>
            <a:fillRect/>
          </a:stretch>
        </p:blipFill>
        <p:spPr>
          <a:xfrm>
            <a:off x="6096000" y="1527276"/>
            <a:ext cx="6096000" cy="4462043"/>
          </a:xfrm>
          <a:prstGeom prst="rect">
            <a:avLst/>
          </a:prstGeom>
        </p:spPr>
      </p:pic>
    </p:spTree>
    <p:extLst>
      <p:ext uri="{BB962C8B-B14F-4D97-AF65-F5344CB8AC3E}">
        <p14:creationId xmlns:p14="http://schemas.microsoft.com/office/powerpoint/2010/main" val="1344420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A923FD-EE06-48F2-482E-88F38D200251}"/>
              </a:ext>
            </a:extLst>
          </p:cNvPr>
          <p:cNvSpPr>
            <a:spLocks noGrp="1"/>
          </p:cNvSpPr>
          <p:nvPr>
            <p:ph type="title"/>
          </p:nvPr>
        </p:nvSpPr>
        <p:spPr/>
        <p:txBody>
          <a:bodyPr/>
          <a:lstStyle/>
          <a:p>
            <a:r>
              <a:rPr lang="en-IN" sz="3200" dirty="0"/>
              <a:t>Visualization</a:t>
            </a:r>
            <a:endParaRPr lang="en-IN" dirty="0"/>
          </a:p>
        </p:txBody>
      </p:sp>
      <p:pic>
        <p:nvPicPr>
          <p:cNvPr id="3" name="Content Placeholder 2">
            <a:extLst>
              <a:ext uri="{FF2B5EF4-FFF2-40B4-BE49-F238E27FC236}">
                <a16:creationId xmlns:a16="http://schemas.microsoft.com/office/drawing/2014/main" id="{5B1AEE81-195D-F1B0-F3D7-FDB20184F3B4}"/>
              </a:ext>
            </a:extLst>
          </p:cNvPr>
          <p:cNvPicPr>
            <a:picLocks noGrp="1" noChangeAspect="1"/>
          </p:cNvPicPr>
          <p:nvPr>
            <p:ph idx="1"/>
          </p:nvPr>
        </p:nvPicPr>
        <p:blipFill>
          <a:blip r:embed="rId2"/>
          <a:stretch>
            <a:fillRect/>
          </a:stretch>
        </p:blipFill>
        <p:spPr>
          <a:xfrm>
            <a:off x="4688336" y="1303020"/>
            <a:ext cx="4947501" cy="3684587"/>
          </a:xfrm>
          <a:prstGeom prst="rect">
            <a:avLst/>
          </a:prstGeom>
        </p:spPr>
      </p:pic>
    </p:spTree>
    <p:extLst>
      <p:ext uri="{BB962C8B-B14F-4D97-AF65-F5344CB8AC3E}">
        <p14:creationId xmlns:p14="http://schemas.microsoft.com/office/powerpoint/2010/main" val="1594365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a:xfrm>
            <a:off x="167640" y="265027"/>
            <a:ext cx="10942320" cy="702713"/>
          </a:xfrm>
        </p:spPr>
        <p:txBody>
          <a:bodyPr>
            <a:noAutofit/>
          </a:bodyPr>
          <a:lstStyle/>
          <a:p>
            <a:pPr algn="ctr"/>
            <a:r>
              <a:rPr lang="en-US" sz="3200" dirty="0"/>
              <a:t>NLP-Based Subtitle Generator &amp; Summarizer for Lecture Videos</a:t>
            </a:r>
          </a:p>
        </p:txBody>
      </p:sp>
      <p:sp>
        <p:nvSpPr>
          <p:cNvPr id="2" name="Content Placeholder 1">
            <a:extLst>
              <a:ext uri="{FF2B5EF4-FFF2-40B4-BE49-F238E27FC236}">
                <a16:creationId xmlns:a16="http://schemas.microsoft.com/office/drawing/2014/main" id="{C9565BAE-48A9-8300-4E79-87D77968413B}"/>
              </a:ext>
            </a:extLst>
          </p:cNvPr>
          <p:cNvSpPr>
            <a:spLocks noGrp="1"/>
          </p:cNvSpPr>
          <p:nvPr>
            <p:ph idx="1"/>
          </p:nvPr>
        </p:nvSpPr>
        <p:spPr>
          <a:xfrm>
            <a:off x="678884" y="784860"/>
            <a:ext cx="10834234" cy="5288282"/>
          </a:xfrm>
        </p:spPr>
        <p:txBody>
          <a:bodyPr lIns="0" tIns="0" rIns="0" bIns="0" numCol="2">
            <a:normAutofit/>
          </a:bodyPr>
          <a:lstStyle/>
          <a:p>
            <a:pPr marL="0" indent="0">
              <a:buNone/>
            </a:pPr>
            <a:endParaRPr lang="en-IN" sz="2400" dirty="0"/>
          </a:p>
          <a:p>
            <a:pPr marL="0" indent="0">
              <a:buNone/>
            </a:pPr>
            <a:r>
              <a:rPr lang="en-IN" sz="2400" dirty="0"/>
              <a:t>Transcript Output</a:t>
            </a:r>
            <a:endParaRPr lang="en-IN" sz="2200" dirty="0"/>
          </a:p>
        </p:txBody>
      </p:sp>
      <p:pic>
        <p:nvPicPr>
          <p:cNvPr id="5" name="Picture 4">
            <a:extLst>
              <a:ext uri="{FF2B5EF4-FFF2-40B4-BE49-F238E27FC236}">
                <a16:creationId xmlns:a16="http://schemas.microsoft.com/office/drawing/2014/main" id="{26C83070-C40A-5A98-B469-24A7575CF57D}"/>
              </a:ext>
            </a:extLst>
          </p:cNvPr>
          <p:cNvPicPr>
            <a:picLocks noChangeAspect="1"/>
          </p:cNvPicPr>
          <p:nvPr/>
        </p:nvPicPr>
        <p:blipFill>
          <a:blip r:embed="rId3"/>
          <a:stretch>
            <a:fillRect/>
          </a:stretch>
        </p:blipFill>
        <p:spPr>
          <a:xfrm>
            <a:off x="531765" y="1760220"/>
            <a:ext cx="3819942" cy="2179320"/>
          </a:xfrm>
          <a:prstGeom prst="rect">
            <a:avLst/>
          </a:prstGeom>
        </p:spPr>
      </p:pic>
      <p:pic>
        <p:nvPicPr>
          <p:cNvPr id="7" name="Picture 6">
            <a:extLst>
              <a:ext uri="{FF2B5EF4-FFF2-40B4-BE49-F238E27FC236}">
                <a16:creationId xmlns:a16="http://schemas.microsoft.com/office/drawing/2014/main" id="{893C2888-BE14-92F8-C910-511F42F49F3F}"/>
              </a:ext>
            </a:extLst>
          </p:cNvPr>
          <p:cNvPicPr>
            <a:picLocks noChangeAspect="1"/>
          </p:cNvPicPr>
          <p:nvPr/>
        </p:nvPicPr>
        <p:blipFill>
          <a:blip r:embed="rId4"/>
          <a:stretch>
            <a:fillRect/>
          </a:stretch>
        </p:blipFill>
        <p:spPr>
          <a:xfrm>
            <a:off x="4710784" y="1760220"/>
            <a:ext cx="4020111" cy="1609950"/>
          </a:xfrm>
          <a:prstGeom prst="rect">
            <a:avLst/>
          </a:prstGeom>
        </p:spPr>
      </p:pic>
      <p:pic>
        <p:nvPicPr>
          <p:cNvPr id="9" name="Picture 8">
            <a:extLst>
              <a:ext uri="{FF2B5EF4-FFF2-40B4-BE49-F238E27FC236}">
                <a16:creationId xmlns:a16="http://schemas.microsoft.com/office/drawing/2014/main" id="{B702EA43-1AC9-7A8D-6F0E-FBDF63A78CF8}"/>
              </a:ext>
            </a:extLst>
          </p:cNvPr>
          <p:cNvPicPr>
            <a:picLocks noChangeAspect="1"/>
          </p:cNvPicPr>
          <p:nvPr/>
        </p:nvPicPr>
        <p:blipFill>
          <a:blip r:embed="rId5"/>
          <a:stretch>
            <a:fillRect/>
          </a:stretch>
        </p:blipFill>
        <p:spPr>
          <a:xfrm>
            <a:off x="678882" y="4023475"/>
            <a:ext cx="10431078" cy="1622944"/>
          </a:xfrm>
          <a:prstGeom prst="rect">
            <a:avLst/>
          </a:prstGeom>
        </p:spPr>
      </p:pic>
      <p:sp>
        <p:nvSpPr>
          <p:cNvPr id="11" name="TextBox 10">
            <a:extLst>
              <a:ext uri="{FF2B5EF4-FFF2-40B4-BE49-F238E27FC236}">
                <a16:creationId xmlns:a16="http://schemas.microsoft.com/office/drawing/2014/main" id="{31A567B9-93CA-1C70-DE90-E1091698891A}"/>
              </a:ext>
            </a:extLst>
          </p:cNvPr>
          <p:cNvSpPr txBox="1"/>
          <p:nvPr/>
        </p:nvSpPr>
        <p:spPr>
          <a:xfrm rot="10800000" flipV="1">
            <a:off x="4831080" y="1291564"/>
            <a:ext cx="2026920" cy="400110"/>
          </a:xfrm>
          <a:prstGeom prst="rect">
            <a:avLst/>
          </a:prstGeom>
          <a:noFill/>
        </p:spPr>
        <p:txBody>
          <a:bodyPr wrap="square">
            <a:spAutoFit/>
          </a:bodyPr>
          <a:lstStyle/>
          <a:p>
            <a:r>
              <a:rPr lang="en-IN" sz="2000" dirty="0"/>
              <a:t>Subtitle .</a:t>
            </a:r>
            <a:r>
              <a:rPr lang="en-IN" sz="2000" dirty="0" err="1"/>
              <a:t>srt</a:t>
            </a:r>
            <a:r>
              <a:rPr lang="en-IN" sz="2000" dirty="0"/>
              <a:t> File</a:t>
            </a:r>
          </a:p>
        </p:txBody>
      </p:sp>
      <p:sp>
        <p:nvSpPr>
          <p:cNvPr id="13" name="TextBox 12">
            <a:extLst>
              <a:ext uri="{FF2B5EF4-FFF2-40B4-BE49-F238E27FC236}">
                <a16:creationId xmlns:a16="http://schemas.microsoft.com/office/drawing/2014/main" id="{0520AE1E-9D76-9267-9227-37A5A04CA636}"/>
              </a:ext>
            </a:extLst>
          </p:cNvPr>
          <p:cNvSpPr txBox="1"/>
          <p:nvPr/>
        </p:nvSpPr>
        <p:spPr>
          <a:xfrm>
            <a:off x="960120" y="3654143"/>
            <a:ext cx="3093720" cy="400110"/>
          </a:xfrm>
          <a:prstGeom prst="rect">
            <a:avLst/>
          </a:prstGeom>
          <a:noFill/>
        </p:spPr>
        <p:txBody>
          <a:bodyPr wrap="square">
            <a:spAutoFit/>
          </a:bodyPr>
          <a:lstStyle/>
          <a:p>
            <a:r>
              <a:rPr lang="en-IN" sz="2000" dirty="0"/>
              <a:t>Summary Output</a:t>
            </a:r>
          </a:p>
        </p:txBody>
      </p:sp>
    </p:spTree>
    <p:extLst>
      <p:ext uri="{BB962C8B-B14F-4D97-AF65-F5344CB8AC3E}">
        <p14:creationId xmlns:p14="http://schemas.microsoft.com/office/powerpoint/2010/main" val="2845992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8F2A82-1382-8091-2AE6-D0FEE63AFF64}"/>
              </a:ext>
            </a:extLst>
          </p:cNvPr>
          <p:cNvSpPr>
            <a:spLocks noGrp="1"/>
          </p:cNvSpPr>
          <p:nvPr>
            <p:ph idx="1"/>
          </p:nvPr>
        </p:nvSpPr>
        <p:spPr>
          <a:xfrm flipV="1">
            <a:off x="678884" y="6073141"/>
            <a:ext cx="10834234" cy="38031054"/>
          </a:xfrm>
        </p:spPr>
        <p:txBody>
          <a:bodyPr/>
          <a:lstStyle/>
          <a:p>
            <a:endParaRPr lang="en-IN" dirty="0"/>
          </a:p>
        </p:txBody>
      </p:sp>
      <p:sp>
        <p:nvSpPr>
          <p:cNvPr id="4" name="Rectangle 1">
            <a:extLst>
              <a:ext uri="{FF2B5EF4-FFF2-40B4-BE49-F238E27FC236}">
                <a16:creationId xmlns:a16="http://schemas.microsoft.com/office/drawing/2014/main" id="{4545BBEB-46E5-1002-68E0-7B594C8D96B8}"/>
              </a:ext>
            </a:extLst>
          </p:cNvPr>
          <p:cNvSpPr>
            <a:spLocks noChangeArrowheads="1"/>
          </p:cNvSpPr>
          <p:nvPr/>
        </p:nvSpPr>
        <p:spPr bwMode="auto">
          <a:xfrm>
            <a:off x="815340" y="1214472"/>
            <a:ext cx="10942320"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 Conclusion</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Successfully built an end-to-end NLP pipeline to convert lecture videos into subtitles and summaries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Whisper model accurately transcribed audio to text and BART generated concise 100–140 word summaries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Evaluated model performance using WER and ROUGE scores to ensure quality output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Improved student accessibility and reduced revision time for edtech platforms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CD1CDD92-0A65-0818-E865-8D1A5B7159C7}"/>
              </a:ext>
            </a:extLst>
          </p:cNvPr>
          <p:cNvSpPr>
            <a:spLocks noChangeArrowheads="1"/>
          </p:cNvSpPr>
          <p:nvPr/>
        </p:nvSpPr>
        <p:spPr bwMode="auto">
          <a:xfrm rot="10800000" flipV="1">
            <a:off x="678884" y="3157295"/>
            <a:ext cx="11276896"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 Learnings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Gained hands-on experience with NLP models like Whisper, BART and </a:t>
            </a:r>
            <a:r>
              <a:rPr kumimoji="0" lang="en-US" altLang="en-US" sz="1800" b="0" i="0" u="none" strike="noStrike" cap="none" normalizeH="0" baseline="0" dirty="0" err="1">
                <a:ln>
                  <a:noFill/>
                </a:ln>
                <a:solidFill>
                  <a:schemeClr val="tx1"/>
                </a:solidFill>
                <a:effectLst/>
                <a:latin typeface="Arial" panose="020B0604020202020204" pitchFamily="34" charset="0"/>
              </a:rPr>
              <a:t>HuggingFace</a:t>
            </a:r>
            <a:r>
              <a:rPr kumimoji="0" lang="en-US" altLang="en-US" sz="1800" b="0" i="0" u="none" strike="noStrike" cap="none" normalizeH="0" baseline="0" dirty="0">
                <a:ln>
                  <a:noFill/>
                </a:ln>
                <a:solidFill>
                  <a:schemeClr val="tx1"/>
                </a:solidFill>
                <a:effectLst/>
                <a:latin typeface="Arial" panose="020B0604020202020204" pitchFamily="34" charset="0"/>
              </a:rPr>
              <a:t> Transformers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Learned speech-to-text transcription, text cleaning and subtitle generation in a real project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Understood how to evaluate NLP models using WER and ROUGE metrics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Built confidence in developing a complete AI pipeline from video input to final output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42137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7077</TotalTime>
  <Words>337</Words>
  <Application>Microsoft Office PowerPoint</Application>
  <PresentationFormat>Widescreen</PresentationFormat>
  <Paragraphs>65</Paragraphs>
  <Slides>10</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BIA Template</vt:lpstr>
      <vt:lpstr>PowerPoint Presentation</vt:lpstr>
      <vt:lpstr> 🚨 Problem </vt:lpstr>
      <vt:lpstr>Agenda</vt:lpstr>
      <vt:lpstr>Tools &amp; Technologies</vt:lpstr>
      <vt:lpstr>Workflow Diagram</vt:lpstr>
      <vt:lpstr>Visualization</vt:lpstr>
      <vt:lpstr>NLP-Based Subtitle Generator &amp; Summarizer for Lecture Videos</vt:lpstr>
      <vt:lpstr>PowerPoint Presentation</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Reshma Pandit</cp:lastModifiedBy>
  <cp:revision>2272</cp:revision>
  <dcterms:created xsi:type="dcterms:W3CDTF">2020-12-23T13:36:00Z</dcterms:created>
  <dcterms:modified xsi:type="dcterms:W3CDTF">2026-04-20T11:50:39Z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